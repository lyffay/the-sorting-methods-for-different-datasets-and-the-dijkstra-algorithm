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2"/>
  </p:notesMasterIdLst>
  <p:sldIdLst>
    <p:sldId id="260" r:id="rId4"/>
    <p:sldId id="261" r:id="rId5"/>
    <p:sldId id="262" r:id="rId6"/>
    <p:sldId id="263" r:id="rId7"/>
    <p:sldId id="265" r:id="rId8"/>
    <p:sldId id="264" r:id="rId9"/>
    <p:sldId id="267" r:id="rId10"/>
    <p:sldId id="266" r:id="rId11"/>
  </p:sldIdLst>
  <p:sldSz cx="10617200" cy="597535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3215" y="1279287"/>
            <a:ext cx="6137315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7122" y="1186107"/>
            <a:ext cx="7962900" cy="20803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7122" y="3346639"/>
            <a:ext cx="7962900" cy="1442659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215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140" indent="0" algn="ctr">
              <a:buNone/>
              <a:defRPr sz="1395"/>
            </a:lvl7pPr>
            <a:lvl8pPr marL="2788285" indent="0" algn="ctr">
              <a:buNone/>
              <a:defRPr sz="1395"/>
            </a:lvl8pPr>
            <a:lvl9pPr marL="3187065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846" y="420363"/>
            <a:ext cx="9555557" cy="619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0822" y="1327856"/>
            <a:ext cx="9555557" cy="4116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403" y="1489688"/>
            <a:ext cx="9157335" cy="2485579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403" y="3998782"/>
            <a:ext cx="9157335" cy="1307107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21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14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28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06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822" y="420363"/>
            <a:ext cx="9555557" cy="619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0846" y="1327731"/>
            <a:ext cx="4578704" cy="4116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05461" y="1327856"/>
            <a:ext cx="4586409" cy="41163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5330" y="5501748"/>
            <a:ext cx="2359009" cy="27608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822" y="420488"/>
            <a:ext cx="9555557" cy="619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8648" y="1327856"/>
            <a:ext cx="4578704" cy="796719"/>
          </a:xfrm>
        </p:spPr>
        <p:txBody>
          <a:bodyPr anchor="ctr" anchorCtr="0"/>
          <a:lstStyle>
            <a:lvl1pPr marL="0" indent="0">
              <a:buNone/>
              <a:defRPr sz="2440"/>
            </a:lvl1pPr>
            <a:lvl2pPr marL="398145" indent="0">
              <a:buNone/>
              <a:defRPr sz="2090"/>
            </a:lvl2pPr>
            <a:lvl3pPr marL="796925" indent="0">
              <a:buNone/>
              <a:defRPr sz="1745"/>
            </a:lvl3pPr>
            <a:lvl4pPr marL="1195070" indent="0">
              <a:buNone/>
              <a:defRPr sz="1570"/>
            </a:lvl4pPr>
            <a:lvl5pPr marL="1593215" indent="0">
              <a:buNone/>
              <a:defRPr sz="1570"/>
            </a:lvl5pPr>
            <a:lvl6pPr marL="1991995" indent="0">
              <a:buNone/>
              <a:defRPr sz="1570"/>
            </a:lvl6pPr>
            <a:lvl7pPr marL="2390140" indent="0">
              <a:buNone/>
              <a:defRPr sz="1570"/>
            </a:lvl7pPr>
            <a:lvl8pPr marL="2788285" indent="0">
              <a:buNone/>
              <a:defRPr sz="1570"/>
            </a:lvl8pPr>
            <a:lvl9pPr marL="3187065" indent="0">
              <a:buNone/>
              <a:defRPr sz="157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0860" y="2213093"/>
            <a:ext cx="4578668" cy="3231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07508" y="1327605"/>
            <a:ext cx="4578704" cy="796719"/>
          </a:xfrm>
        </p:spPr>
        <p:txBody>
          <a:bodyPr anchor="ctr" anchorCtr="0"/>
          <a:lstStyle>
            <a:lvl1pPr marL="0" indent="0">
              <a:buNone/>
              <a:defRPr sz="2440"/>
            </a:lvl1pPr>
            <a:lvl2pPr marL="398145" indent="0">
              <a:buNone/>
              <a:defRPr sz="2090"/>
            </a:lvl2pPr>
            <a:lvl3pPr marL="796925" indent="0">
              <a:buNone/>
              <a:defRPr sz="1745"/>
            </a:lvl3pPr>
            <a:lvl4pPr marL="1195070" indent="0">
              <a:buNone/>
              <a:defRPr sz="1570"/>
            </a:lvl4pPr>
            <a:lvl5pPr marL="1593215" indent="0">
              <a:buNone/>
              <a:defRPr sz="1570"/>
            </a:lvl5pPr>
            <a:lvl6pPr marL="1991995" indent="0">
              <a:buNone/>
              <a:defRPr sz="1570"/>
            </a:lvl6pPr>
            <a:lvl7pPr marL="2390140" indent="0">
              <a:buNone/>
              <a:defRPr sz="1570"/>
            </a:lvl7pPr>
            <a:lvl8pPr marL="2788285" indent="0">
              <a:buNone/>
              <a:defRPr sz="1570"/>
            </a:lvl8pPr>
            <a:lvl9pPr marL="3187065" indent="0">
              <a:buNone/>
              <a:defRPr sz="157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07673" y="2213093"/>
            <a:ext cx="4578668" cy="3231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5330" y="5501748"/>
            <a:ext cx="2359009" cy="27608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30649" y="5501748"/>
            <a:ext cx="2359562" cy="27608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822" y="420377"/>
            <a:ext cx="9555557" cy="6196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846" y="531018"/>
            <a:ext cx="3096708" cy="1394248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156191" y="531142"/>
            <a:ext cx="5927984" cy="4913066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215" indent="0">
              <a:buNone/>
              <a:defRPr sz="1745"/>
            </a:lvl5pPr>
            <a:lvl6pPr marL="1991995" indent="0">
              <a:buNone/>
              <a:defRPr sz="1745"/>
            </a:lvl6pPr>
            <a:lvl7pPr marL="2390140" indent="0">
              <a:buNone/>
              <a:defRPr sz="1745"/>
            </a:lvl7pPr>
            <a:lvl8pPr marL="2788285" indent="0">
              <a:buNone/>
              <a:defRPr sz="1745"/>
            </a:lvl8pPr>
            <a:lvl9pPr marL="3187065" indent="0">
              <a:buNone/>
              <a:defRPr sz="17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0860" y="2013914"/>
            <a:ext cx="3096683" cy="3430321"/>
          </a:xfrm>
        </p:spPr>
        <p:txBody>
          <a:bodyPr/>
          <a:lstStyle>
            <a:lvl1pPr marL="0" indent="0">
              <a:buNone/>
              <a:defRPr sz="1745"/>
            </a:lvl1pPr>
            <a:lvl2pPr marL="398145" indent="0">
              <a:buNone/>
              <a:defRPr sz="1570"/>
            </a:lvl2pPr>
            <a:lvl3pPr marL="796925" indent="0">
              <a:buNone/>
              <a:defRPr sz="1395"/>
            </a:lvl3pPr>
            <a:lvl4pPr marL="1195070" indent="0">
              <a:buNone/>
              <a:defRPr sz="1220"/>
            </a:lvl4pPr>
            <a:lvl5pPr marL="1593215" indent="0">
              <a:buNone/>
              <a:defRPr sz="1220"/>
            </a:lvl5pPr>
            <a:lvl6pPr marL="1991995" indent="0">
              <a:buNone/>
              <a:defRPr sz="1220"/>
            </a:lvl6pPr>
            <a:lvl7pPr marL="2390140" indent="0">
              <a:buNone/>
              <a:defRPr sz="1220"/>
            </a:lvl7pPr>
            <a:lvl8pPr marL="2788285" indent="0">
              <a:buNone/>
              <a:defRPr sz="1220"/>
            </a:lvl8pPr>
            <a:lvl9pPr marL="3187065" indent="0">
              <a:buNone/>
              <a:defRPr sz="12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5330" y="5501748"/>
            <a:ext cx="2359009" cy="27608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14595" y="531142"/>
            <a:ext cx="1769547" cy="491310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0860" y="531142"/>
            <a:ext cx="7520577" cy="49130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0860" y="531142"/>
            <a:ext cx="9556033" cy="49130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26989" y="5501748"/>
            <a:ext cx="2357350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3584350" y="5501713"/>
            <a:ext cx="3448500" cy="276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7730649" y="5501748"/>
            <a:ext cx="2361221" cy="276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7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0822" y="420377"/>
            <a:ext cx="9555557" cy="619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822" y="1327856"/>
            <a:ext cx="9555557" cy="4116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796925" rtl="0" eaLnBrk="1" latinLnBrk="0" hangingPunct="1">
        <a:lnSpc>
          <a:spcPct val="100000"/>
        </a:lnSpc>
        <a:spcBef>
          <a:spcPct val="0"/>
        </a:spcBef>
        <a:buNone/>
        <a:defRPr sz="313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99568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79260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190750" marR="0" indent="-199390" algn="l" defTabSz="796925" rtl="0" eaLnBrk="1" fontAlgn="auto" latinLnBrk="0" hangingPunct="1">
        <a:lnSpc>
          <a:spcPct val="90000"/>
        </a:lnSpc>
        <a:spcBef>
          <a:spcPts val="435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09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58953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lang="en-US" altLang="zh-CN" sz="209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298767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lang="en-US" altLang="zh-CN" sz="209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187065" indent="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None/>
        <a:defRPr lang="en-US" altLang="zh-CN" sz="209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21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14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28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06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12.png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9500" y="3860793"/>
            <a:ext cx="9226453" cy="92074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93894" y="698528"/>
            <a:ext cx="8003540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3600" b="1" kern="0" spc="-14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Urban</a:t>
            </a:r>
            <a:r>
              <a:rPr sz="3600" b="1" kern="0" spc="1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b="1" kern="0" spc="-14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Infrastructure</a:t>
            </a:r>
            <a:r>
              <a:rPr sz="3600" b="1" kern="0" spc="1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b="1" kern="0" spc="-14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Inspectio</a:t>
            </a:r>
            <a:r>
              <a:rPr sz="3600" b="1" kern="0" spc="-15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System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269964" y="2903846"/>
            <a:ext cx="5005070" cy="74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30" dirty="0">
                <a:solidFill>
                  <a:srgbClr val="1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1100" kern="0" spc="470" dirty="0">
                <a:solidFill>
                  <a:srgbClr val="1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10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highest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priority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inspection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targets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  <a:spcBef>
                <a:spcPts val="435"/>
              </a:spcBef>
            </a:pPr>
            <a:r>
              <a:rPr sz="1100" kern="0" spc="40" dirty="0">
                <a:solidFill>
                  <a:srgbClr val="1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1100" kern="0" spc="430" dirty="0">
                <a:solidFill>
                  <a:srgbClr val="1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efficient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routes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weighted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infrastructure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  <a:spcBef>
                <a:spcPts val="295"/>
              </a:spcBef>
            </a:pPr>
            <a:r>
              <a:rPr sz="1300" kern="0" spc="-20" dirty="0">
                <a:solidFill>
                  <a:srgbClr val="104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1300" kern="0" spc="280" dirty="0">
                <a:solidFill>
                  <a:srgbClr val="104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Demonstrate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object-oriented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Java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</a:t>
            </a:r>
            <a:r>
              <a:rPr sz="1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79547" y="2594330"/>
            <a:ext cx="448310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 three candidate location dat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asets(1000 records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each)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3822657" y="1413859"/>
            <a:ext cx="3229610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500" b="1" kern="0" spc="-7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CPT204 Gro</a:t>
            </a:r>
            <a:r>
              <a:rPr sz="2500" b="1" kern="0" spc="-8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</a:t>
            </a:r>
            <a:r>
              <a:rPr sz="2500" b="1" kern="0" spc="14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8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971795" y="5372586"/>
            <a:ext cx="497967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600" b="1" kern="0" spc="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Team Members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Yihan 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Zhang(2364252)</a:t>
            </a:r>
            <a:endParaRPr sz="1600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6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                           Y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ifei Li        (2364053)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590849" y="1800062"/>
            <a:ext cx="5518150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  Algorithms·Graph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Shortest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Path·Object-Orie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nted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873513" y="4151670"/>
            <a:ext cx="993139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65" indent="-227965" algn="l" rtl="0" eaLnBrk="0">
              <a:lnSpc>
                <a:spcPct val="93000"/>
              </a:lnSpc>
            </a:pPr>
            <a:r>
              <a:rPr sz="1300" b="1" kern="0" spc="-1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 &amp;Sel</a:t>
            </a:r>
            <a:r>
              <a:rPr sz="1300" b="1" kern="0" spc="-2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ect</a:t>
            </a:r>
            <a:r>
              <a:rPr sz="1300" b="1" kern="0" spc="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-3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</a:t>
            </a:r>
            <a:r>
              <a:rPr sz="1300" b="1" kern="0" spc="7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-30" dirty="0">
                <a:solidFill>
                  <a:srgbClr val="306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269964" y="2331553"/>
            <a:ext cx="1652270" cy="230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b="1" kern="0" spc="-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</a:t>
            </a:r>
            <a:r>
              <a:rPr sz="1700" b="1" kern="0" spc="9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700" b="1" kern="0" spc="-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Purpose:</a:t>
            </a: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4737" y="2222471"/>
            <a:ext cx="425431" cy="43817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24105" y="5264164"/>
            <a:ext cx="457176" cy="361926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1416056" y="4241828"/>
            <a:ext cx="1142365" cy="17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6000"/>
              </a:lnSpc>
            </a:pPr>
            <a:r>
              <a:rPr sz="1300" b="1" kern="0" spc="-7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</a:t>
            </a:r>
            <a:r>
              <a:rPr sz="1300" b="1" kern="0" spc="-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ndidate</a:t>
            </a:r>
            <a:r>
              <a:rPr sz="1300" b="1" kern="0" spc="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-6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</a:t>
            </a:r>
            <a:r>
              <a:rPr sz="1300" b="1" kern="0" spc="-5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330971" y="4234331"/>
            <a:ext cx="88011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1200" b="1" kern="0" spc="-20" dirty="0">
                <a:solidFill>
                  <a:srgbClr val="2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Graph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8642335" y="4241651"/>
            <a:ext cx="1087120" cy="16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6000"/>
              </a:lnSpc>
            </a:pPr>
            <a:r>
              <a:rPr sz="1200" b="1" kern="0" spc="-2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Shortest</a:t>
            </a:r>
            <a:r>
              <a:rPr sz="1200" b="1" kern="0" spc="12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b="1" kern="0" spc="-20" dirty="0">
                <a:solidFill>
                  <a:srgbClr val="1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Paths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0159958" y="5621602"/>
            <a:ext cx="10223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5000"/>
              </a:lnSpc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422386" y="2313725"/>
          <a:ext cx="7860030" cy="2556510"/>
        </p:xfrm>
        <a:graphic>
          <a:graphicData uri="http://schemas.openxmlformats.org/drawingml/2006/table">
            <a:tbl>
              <a:tblPr/>
              <a:tblGrid>
                <a:gridCol w="351790"/>
                <a:gridCol w="5150485"/>
                <a:gridCol w="2357755"/>
              </a:tblGrid>
              <a:tr h="12769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300" kern="0" spc="-10" dirty="0">
                          <a:solidFill>
                            <a:srgbClr val="6090C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②</a:t>
                      </a:r>
                      <a:endParaRPr sz="2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100" kern="0" spc="-10" dirty="0">
                          <a:solidFill>
                            <a:srgbClr val="6090C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③</a:t>
                      </a:r>
                      <a:endParaRPr sz="2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417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Apply</a:t>
                      </a:r>
                      <a:r>
                        <a:rPr sz="1300" b="1" kern="0" spc="7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b="1" kern="0" spc="-3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Bubble Sort,Quick Sor</a:t>
                      </a:r>
                      <a:r>
                        <a:rPr sz="1300" b="1" kern="0" spc="-4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t,Merge Sort to each dataset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sz="13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Select Top</a:t>
                      </a:r>
                      <a:r>
                        <a:rPr sz="1300" b="1" kern="0" spc="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</a:t>
                      </a:r>
                      <a:r>
                        <a:rPr sz="1300" b="1" kern="0" spc="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highest-prior</a:t>
                      </a:r>
                      <a:r>
                        <a:rPr sz="1300" b="1" kern="0" spc="-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ity</a:t>
                      </a:r>
                      <a:r>
                        <a:rPr sz="1300" b="1" kern="0" spc="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b="1" kern="0" spc="-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locations from each dataset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125" algn="l" rtl="0" eaLnBrk="0">
                        <a:lnSpc>
                          <a:spcPts val="1840"/>
                        </a:lnSpc>
                        <a:spcBef>
                          <a:spcPts val="0"/>
                        </a:spcBef>
                      </a:pP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candidates_A.csV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125" algn="l" rtl="0" eaLnBrk="0">
                        <a:lnSpc>
                          <a:spcPts val="1770"/>
                        </a:lnSpc>
                        <a:spcBef>
                          <a:spcPts val="270"/>
                        </a:spcBef>
                      </a:pP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candidates_B.csV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125" algn="l" rtl="0" eaLnBrk="0">
                        <a:lnSpc>
                          <a:spcPct val="142000"/>
                        </a:lnSpc>
                        <a:spcBef>
                          <a:spcPts val="140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candidates_C.</a:t>
                      </a: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csv</a:t>
                      </a: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paths.csV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357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" algn="l" rtl="0" eaLnBrk="0">
                        <a:lnSpc>
                          <a:spcPct val="87000"/>
                        </a:lnSpc>
                      </a:pPr>
                      <a:r>
                        <a:rPr sz="2100" b="1" kern="0" spc="-30" dirty="0">
                          <a:solidFill>
                            <a:srgbClr val="6090C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④</a:t>
                      </a:r>
                      <a:endParaRPr sz="21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ts val="1910"/>
                        </a:lnSpc>
                      </a:pPr>
                      <a:r>
                        <a:rPr sz="1300" kern="0" spc="-1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Read paths.csv→</a:t>
                      </a:r>
                      <a:r>
                        <a:rPr sz="1300" kern="0" spc="-28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 undirected weighted graph (1000</a:t>
                      </a:r>
                      <a:r>
                        <a:rPr sz="1300" kern="0" spc="8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node</a:t>
                      </a:r>
                      <a:r>
                        <a:rPr sz="1300" kern="0" spc="-2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s)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4375" algn="l" rtl="0" eaLnBrk="0">
                        <a:lnSpc>
                          <a:spcPct val="83000"/>
                        </a:lnSpc>
                      </a:pPr>
                      <a:r>
                        <a:rPr sz="1600" b="1" kern="0" spc="-4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Final Output</a:t>
                      </a:r>
                      <a:r>
                        <a:rPr sz="16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:</a:t>
                      </a:r>
                      <a:endParaRPr sz="1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5950"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Run</a:t>
                      </a:r>
                      <a:r>
                        <a:rPr sz="1300" b="1" kern="0" spc="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b="1" kern="0" spc="-5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Dijkstra's algorithm for four required shortest-pa</a:t>
                      </a:r>
                      <a:r>
                        <a:rPr sz="1300" b="1" kern="0" spc="-60" dirty="0">
                          <a:solidFill>
                            <a:srgbClr val="1030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th queries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1750"/>
                        </a:lnSpc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30 selected inspection tar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gets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2570"/>
                        </a:lnSpc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 shortest-path query</a:t>
                      </a:r>
                      <a:r>
                        <a:rPr sz="1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resu</a:t>
                      </a: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lts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2990799" y="720978"/>
            <a:ext cx="5048885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3400" b="1" kern="0" spc="-6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</a:t>
            </a:r>
            <a:r>
              <a:rPr sz="3400" b="1" kern="0" spc="-5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rall Syste</a:t>
            </a:r>
            <a:r>
              <a:rPr sz="3400" b="1" kern="0" spc="-6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 Workflo</a:t>
            </a:r>
            <a:r>
              <a:rPr sz="3400" b="1" kern="0" spc="-3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409686" y="1610438"/>
            <a:ext cx="4091940" cy="280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800" kern="0" spc="-50" baseline="-7000" dirty="0">
                <a:solidFill>
                  <a:srgbClr val="6090C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</a:t>
            </a:r>
            <a:r>
              <a:rPr sz="1800" kern="0" spc="-50" dirty="0">
                <a:solidFill>
                  <a:srgbClr val="6090C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400" kern="0" spc="-5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 candidates</a:t>
            </a:r>
            <a:r>
              <a:rPr sz="1400" b="1" kern="0" spc="-5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_A/</a:t>
            </a:r>
            <a:r>
              <a:rPr sz="1400" b="1" kern="0" spc="-6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B/C.csv(1000 records each)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860598" y="5344714"/>
            <a:ext cx="3282950" cy="180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300" b="1" kern="0" spc="-3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Output:path</a:t>
            </a:r>
            <a:r>
              <a:rPr sz="1300" b="1" kern="0" spc="7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-3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nodes+total cos</a:t>
            </a:r>
            <a:r>
              <a:rPr sz="1300" b="1" kern="0" spc="-4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 for each case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658120" y="2048618"/>
            <a:ext cx="1002664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500" b="1" kern="0" spc="-3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</a:t>
            </a:r>
            <a:r>
              <a:rPr sz="1500" b="1" kern="0" spc="10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-30" dirty="0">
                <a:solidFill>
                  <a:srgbClr val="103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Files: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0166328" y="5620363"/>
            <a:ext cx="126365" cy="193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038330" y="508034"/>
            <a:ext cx="6970394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3800" b="1" kern="0" spc="-17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 A:Sor</a:t>
            </a:r>
            <a:r>
              <a:rPr sz="3800" b="1" kern="0" spc="-18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ting Algorithm</a:t>
            </a:r>
            <a:r>
              <a:rPr sz="3800" b="1" kern="0" spc="16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800" b="1" kern="0" spc="-18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3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711246" y="4013224"/>
            <a:ext cx="8655036" cy="368260"/>
            <a:chOff x="0" y="0"/>
            <a:chExt cx="8655036" cy="36826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8655036" cy="368260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1993844" y="110132"/>
              <a:ext cx="5316855" cy="18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0000"/>
                </a:lnSpc>
              </a:pPr>
              <a:r>
                <a:rPr sz="1300" b="1" kern="0" spc="-5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All algorithms share the same comparison r</a:t>
              </a:r>
              <a:r>
                <a:rPr sz="1300" b="1" kern="0" spc="-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ule via</a:t>
              </a:r>
              <a:r>
                <a:rPr sz="1300" b="1" kern="0" spc="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b="1" kern="0" spc="-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Location.compareTo()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" name="textbox 8"/>
          <p:cNvSpPr/>
          <p:nvPr/>
        </p:nvSpPr>
        <p:spPr>
          <a:xfrm>
            <a:off x="3790912" y="2878451"/>
            <a:ext cx="2348865" cy="763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ts val="1565"/>
              </a:lnSpc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Quick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three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pivot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0" indent="-120650" algn="l" rtl="0" eaLnBrk="0">
              <a:lnSpc>
                <a:spcPct val="118000"/>
              </a:lnSpc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Merge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down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recursive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O(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guaranteed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876278" y="5116802"/>
            <a:ext cx="3652520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0000"/>
              </a:lnSpc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score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differs→highe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score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score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equal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→smaller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location_id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6788147" y="2548253"/>
            <a:ext cx="2169160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nanoTime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precision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0" algn="l" rtl="0" eaLnBrk="0">
              <a:lnSpc>
                <a:spcPct val="154000"/>
              </a:lnSpc>
              <a:spcBef>
                <a:spcPts val="15"/>
              </a:spcBef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runs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3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times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fresh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copy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5" name="group 4"/>
          <p:cNvGrpSpPr/>
          <p:nvPr/>
        </p:nvGrpSpPr>
        <p:grpSpPr>
          <a:xfrm rot="21600000">
            <a:off x="3721116" y="1930396"/>
            <a:ext cx="2743166" cy="495296"/>
            <a:chOff x="0" y="0"/>
            <a:chExt cx="2743166" cy="495296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43166" cy="495296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65087" y="231147"/>
              <a:ext cx="2084704" cy="1638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</a:pPr>
              <a:r>
                <a:rPr sz="1100" kern="0" spc="-40" dirty="0">
                  <a:solidFill>
                    <a:srgbClr val="30602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</a:t>
              </a:r>
              <a:r>
                <a:rPr sz="1100" kern="0" spc="70" dirty="0">
                  <a:solidFill>
                    <a:srgbClr val="30602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b="1" kern="0" spc="-40" dirty="0">
                  <a:solidFill>
                    <a:srgbClr val="10702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Three Algorithms Impl</a:t>
              </a:r>
              <a:r>
                <a:rPr sz="1100" b="1" kern="0" spc="-50" dirty="0">
                  <a:solidFill>
                    <a:srgbClr val="10702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emented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755626" y="4514855"/>
            <a:ext cx="4019566" cy="336531"/>
            <a:chOff x="0" y="0"/>
            <a:chExt cx="4019566" cy="336531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019566" cy="336531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527078" y="115524"/>
              <a:ext cx="2431415" cy="1644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3000"/>
                </a:lnSpc>
              </a:pPr>
              <a:r>
                <a:rPr sz="1100" kern="0" spc="2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Code</a:t>
              </a:r>
              <a:r>
                <a:rPr sz="1100" kern="0" spc="11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2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Snippet:Location.compareTo(</a:t>
              </a:r>
              <a:r>
                <a:rPr sz="1100" kern="0" spc="1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 rot="21600000">
            <a:off x="800112" y="1930396"/>
            <a:ext cx="2730531" cy="495296"/>
            <a:chOff x="0" y="0"/>
            <a:chExt cx="2730531" cy="495296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730531" cy="495296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520708" y="207728"/>
              <a:ext cx="1187450" cy="193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4000"/>
                </a:lnSpc>
              </a:pPr>
              <a:r>
                <a:rPr sz="1300" kern="0" spc="-7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</a:t>
              </a:r>
              <a:r>
                <a:rPr sz="1300" kern="0" spc="7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b="1" kern="0" spc="-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Ranking</a:t>
              </a:r>
              <a:r>
                <a:rPr sz="1300" b="1" kern="0" spc="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b="1" kern="0" spc="-6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Ru</a:t>
              </a:r>
              <a:r>
                <a:rPr sz="1300" b="1" kern="0" spc="-7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</a:t>
              </a:r>
              <a:r>
                <a:rPr sz="1300" b="1" kern="0" spc="-50" dirty="0">
                  <a:solidFill>
                    <a:srgbClr val="104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 rot="21600000">
            <a:off x="6680236" y="1930396"/>
            <a:ext cx="2705049" cy="495296"/>
            <a:chOff x="0" y="0"/>
            <a:chExt cx="2705049" cy="495296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705049" cy="495296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539712" y="194768"/>
              <a:ext cx="1805304" cy="250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770"/>
                </a:lnSpc>
              </a:pPr>
              <a:r>
                <a:rPr sz="1200" kern="0" spc="-10" dirty="0">
                  <a:solidFill>
                    <a:srgbClr val="301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3. </a:t>
              </a:r>
              <a:r>
                <a:rPr sz="1200" b="1" kern="0" spc="-10" dirty="0">
                  <a:solidFill>
                    <a:srgbClr val="30108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Runtime Measurement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0" name="textbox 30"/>
          <p:cNvSpPr/>
          <p:nvPr/>
        </p:nvSpPr>
        <p:spPr>
          <a:xfrm>
            <a:off x="876278" y="3329411"/>
            <a:ext cx="2300605" cy="464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1000"/>
              </a:lnSpc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score=9999 before score=9998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equal,L0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 before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LO002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3911628" y="1185242"/>
            <a:ext cx="3147060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500" b="1" kern="0" spc="-12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CPT20</a:t>
            </a:r>
            <a:r>
              <a:rPr sz="2500" b="1" kern="0" spc="-11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Group</a:t>
            </a:r>
            <a:r>
              <a:rPr sz="2500" b="1" kern="0" spc="1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11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</a:t>
            </a:r>
            <a:r>
              <a:rPr sz="2500" b="1" kern="0" spc="-6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749577" y="1545743"/>
            <a:ext cx="5314950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  Algorithms·Graph  Shor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  Path·Object-Oriented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927870" y="3373747"/>
            <a:ext cx="202628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 average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runtime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both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ns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ms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876278" y="2727640"/>
            <a:ext cx="259080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Location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 (Ascending,ti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e-breaker)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3911629" y="2548253"/>
            <a:ext cx="248158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Bubble Sort(with early-exit opt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imisation)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689585" y="5260048"/>
            <a:ext cx="2887345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6278" y="4939287"/>
            <a:ext cx="1906904" cy="16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Location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compareTo</a:t>
            </a:r>
            <a:r>
              <a:rPr sz="10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()</a:t>
            </a:r>
            <a:endParaRPr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876278" y="2567615"/>
            <a:ext cx="1673225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Priority(Descending)→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876278" y="3168680"/>
            <a:ext cx="708025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300" b="1" kern="0" spc="-6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Example: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0185439" y="5572560"/>
            <a:ext cx="116840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10"/>
              </a:lnSpc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" name="图片 12" descr="post_object_image_35894298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289" y="4514839"/>
            <a:ext cx="4365024" cy="115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101756" y="1450986"/>
          <a:ext cx="8514715" cy="1612265"/>
        </p:xfrm>
        <a:graphic>
          <a:graphicData uri="http://schemas.openxmlformats.org/drawingml/2006/table">
            <a:tbl>
              <a:tblPr/>
              <a:tblGrid>
                <a:gridCol w="1348740"/>
                <a:gridCol w="1860550"/>
                <a:gridCol w="1822450"/>
                <a:gridCol w="1758950"/>
                <a:gridCol w="1724025"/>
              </a:tblGrid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030" algn="l" rtl="0" eaLnBrk="0">
                        <a:lnSpc>
                          <a:spcPct val="70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Dataset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Bubble</a:t>
                      </a:r>
                      <a:r>
                        <a:rPr sz="1400" kern="0" spc="4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Sort(ms)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Quick</a:t>
                      </a:r>
                      <a:r>
                        <a:rPr sz="1400" kern="0" spc="4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Sort(ms)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654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Merge</a:t>
                      </a:r>
                      <a:r>
                        <a:rPr sz="1400" kern="0" spc="4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Sort(ms)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04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Top</a:t>
                      </a:r>
                      <a:r>
                        <a:rPr sz="14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10</a:t>
                      </a:r>
                      <a:r>
                        <a:rPr sz="14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Selected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373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04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0.1110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13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0.3454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96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0.2936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30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L0001-L0010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3730" algn="l" rtl="0" eaLnBrk="0">
                        <a:lnSpc>
                          <a:spcPct val="70000"/>
                        </a:lnSpc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B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0400" algn="l" rtl="0" eaLnBrk="0">
                        <a:lnSpc>
                          <a:spcPct val="85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5.1864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13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0.1949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96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0.5803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30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L0101-L0110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3730" algn="l" rtl="0" eaLnBrk="0">
                        <a:lnSpc>
                          <a:spcPct val="71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C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04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0.7261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13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0.1692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96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0.4878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300" algn="l" rtl="0" eaLnBrk="0">
                        <a:lnSpc>
                          <a:spcPct val="72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L0201-L0210</a:t>
                      </a:r>
                      <a:endParaRPr sz="1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1670019" y="3669034"/>
            <a:ext cx="4960620" cy="834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9000"/>
              </a:lnSpc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 A≈already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sorted→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Bubble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 fastest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(early-exit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triggers)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randomly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shuffled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Bubble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degrades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(n²)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slowest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Quick Sor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 is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fastest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079491" y="787610"/>
            <a:ext cx="9197975" cy="39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2800" b="1" kern="0" spc="-120" dirty="0">
                <a:solidFill>
                  <a:srgbClr val="1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 A</a:t>
            </a:r>
            <a:r>
              <a:rPr sz="2800" b="1" kern="0" spc="130" dirty="0">
                <a:solidFill>
                  <a:srgbClr val="1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120" dirty="0">
                <a:solidFill>
                  <a:srgbClr val="1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Results:Runtime Comparison and Top-10 Selection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1149358"/>
            <a:ext cx="876343" cy="2025643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670020" y="4791407"/>
            <a:ext cx="5473065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 C has equal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scores →tie-breaking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location_id verified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(L0201-L0210)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670020" y="4499331"/>
            <a:ext cx="4445635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Merge Sort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most consiste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nt:O(n log n)regardless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 input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order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95501" y="3391998"/>
            <a:ext cx="12287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1600" b="1" kern="0" spc="-6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1600" b="1" kern="0" spc="8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1" kern="0" spc="-6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Findin</a:t>
            </a:r>
            <a:r>
              <a:rPr sz="16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gs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238218" y="3282944"/>
            <a:ext cx="387350" cy="38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6000"/>
              </a:lnSpc>
            </a:pPr>
            <a:r>
              <a:rPr sz="3600" kern="0" spc="30" dirty="0">
                <a:solidFill>
                  <a:srgbClr val="27548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0153694" y="5682183"/>
            <a:ext cx="124460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743727" y="2203470"/>
            <a:ext cx="2940009" cy="2546335"/>
            <a:chOff x="0" y="0"/>
            <a:chExt cx="2940009" cy="254633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940009" cy="2546335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361874" y="1205218"/>
              <a:ext cx="2433320" cy="8280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705"/>
                </a:lnSpc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Uses binary-heap</a:t>
              </a:r>
              <a:r>
                <a:rPr sz="12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priority queue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60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Time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complexity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:O(V+E)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</a:t>
              </a: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Returns shortest path and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otal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cost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361874" y="728983"/>
              <a:ext cx="1720850" cy="4432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14000"/>
                </a:lnSpc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Suitable because all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edge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weights are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sitive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901653" y="279674"/>
              <a:ext cx="1720215" cy="216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4000"/>
                </a:lnSpc>
              </a:pPr>
              <a:r>
                <a:rPr sz="1500" b="1" kern="0" spc="-40" dirty="0">
                  <a:solidFill>
                    <a:srgbClr val="20207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Dijkstra's </a:t>
              </a:r>
              <a:r>
                <a:rPr sz="1500" b="1" kern="0" spc="-50" dirty="0">
                  <a:solidFill>
                    <a:srgbClr val="20207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Algorithm</a:t>
              </a:r>
              <a:endParaRPr sz="1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3625880" y="2209804"/>
            <a:ext cx="2895522" cy="2546335"/>
            <a:chOff x="0" y="0"/>
            <a:chExt cx="2895522" cy="2546335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95522" cy="2546335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355610" y="719437"/>
              <a:ext cx="2343785" cy="825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19000"/>
                </a:lnSpc>
              </a:pP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Adjacency list</a:t>
              </a: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implement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ation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HashMap</a:t>
              </a:r>
              <a:r>
                <a:rPr sz="11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&lt;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String</a:t>
              </a:r>
              <a:r>
                <a:rPr sz="11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List</a:t>
              </a:r>
              <a:r>
                <a:rPr sz="11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&lt;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</a:t>
              </a:r>
              <a:r>
                <a:rPr sz="11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[]&gt;&gt;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node</a:t>
              </a:r>
              <a:r>
                <a:rPr sz="11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ID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→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list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of</a:t>
              </a:r>
              <a:r>
                <a:rPr sz="11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{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neighbourlndex</a:t>
              </a:r>
              <a:r>
                <a:rPr sz="11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weight}pairs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355610" y="1970376"/>
              <a:ext cx="2291080" cy="4191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17000"/>
                </a:lnSpc>
              </a:pP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O(1)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average</a:t>
              </a: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node</a:t>
              </a:r>
              <a:r>
                <a:rPr sz="11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lookup</a:t>
              </a: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memory</a:t>
              </a:r>
              <a:r>
                <a:rPr sz="11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efficient for sparse gr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aphs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355610" y="1551265"/>
              <a:ext cx="2253615" cy="4070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14000"/>
                </a:lnSpc>
              </a:pP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Each undirected edge</a:t>
              </a:r>
              <a:r>
                <a:rPr sz="11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sto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red</a:t>
              </a:r>
              <a:r>
                <a:rPr sz="1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twice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(both</a:t>
              </a:r>
              <a:r>
                <a:rPr sz="1100" kern="0" spc="2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directions)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/>
            <p:nvPr/>
          </p:nvSpPr>
          <p:spPr>
            <a:xfrm>
              <a:off x="838161" y="272750"/>
              <a:ext cx="1810385" cy="203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1500" b="1" kern="0" spc="-60" dirty="0">
                  <a:solidFill>
                    <a:srgbClr val="106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Graph</a:t>
              </a:r>
              <a:r>
                <a:rPr sz="1500" b="1" kern="0" spc="60" dirty="0">
                  <a:solidFill>
                    <a:srgbClr val="106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b="1" kern="0" spc="-60" dirty="0">
                  <a:solidFill>
                    <a:srgbClr val="106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Data Structu</a:t>
              </a:r>
              <a:r>
                <a:rPr sz="1500" b="1" kern="0" spc="-70" dirty="0">
                  <a:solidFill>
                    <a:srgbClr val="106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</a:t>
              </a:r>
              <a:endParaRPr sz="1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742991" y="2216154"/>
            <a:ext cx="2660564" cy="2540001"/>
            <a:chOff x="0" y="0"/>
            <a:chExt cx="2660564" cy="2540001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60564" cy="2540001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323759" y="986117"/>
              <a:ext cx="1828165" cy="6896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32000"/>
                </a:lnSpc>
              </a:pP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Undirected</a:t>
              </a:r>
              <a:r>
                <a:rPr sz="11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weight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ed</a:t>
              </a:r>
              <a:r>
                <a:rPr sz="1100" kern="0" spc="2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graph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1000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nodes</a:t>
              </a:r>
              <a:r>
                <a:rPr sz="11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multiple</a:t>
              </a:r>
              <a:r>
                <a:rPr sz="11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edges</a:t>
              </a:r>
              <a:r>
                <a:rPr sz="1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per</a:t>
              </a:r>
              <a:r>
                <a:rPr sz="1100" kern="0" spc="2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node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323758" y="1710030"/>
              <a:ext cx="2247265" cy="432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21000"/>
                </a:lnSpc>
              </a:pP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Each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edge:from_l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ocation,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location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,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weight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positive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integer</a:t>
              </a:r>
              <a:r>
                <a:rPr sz="11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831792" y="285417"/>
              <a:ext cx="1031239" cy="203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1500" b="1" kern="0" spc="-70" dirty="0">
                  <a:solidFill>
                    <a:srgbClr val="205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Graph</a:t>
              </a:r>
              <a:r>
                <a:rPr sz="1500" b="1" kern="0" spc="150" dirty="0">
                  <a:solidFill>
                    <a:srgbClr val="205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b="1" kern="0" spc="-70" dirty="0">
                  <a:solidFill>
                    <a:srgbClr val="205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Input</a:t>
              </a:r>
              <a:endParaRPr sz="1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/>
            <p:nvPr/>
          </p:nvSpPr>
          <p:spPr>
            <a:xfrm>
              <a:off x="323759" y="748530"/>
              <a:ext cx="947420" cy="1727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0000"/>
                </a:lnSpc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File:paths.csV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0" name="textbox 30"/>
          <p:cNvSpPr/>
          <p:nvPr/>
        </p:nvSpPr>
        <p:spPr>
          <a:xfrm>
            <a:off x="1231848" y="638398"/>
            <a:ext cx="8778875" cy="43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2800" b="1" kern="0" spc="-8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</a:t>
            </a:r>
            <a:r>
              <a:rPr sz="2800" b="1" kern="0" spc="14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8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B:Graph</a:t>
            </a:r>
            <a:r>
              <a:rPr sz="2800" b="1" kern="0" spc="16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8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Repre</a:t>
            </a:r>
            <a:r>
              <a:rPr sz="2800" b="1" kern="0" spc="-9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sentation and</a:t>
            </a:r>
            <a:r>
              <a:rPr sz="2800" b="1" kern="0" spc="15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9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Dijkstra's Algorithm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3778276" y="1293216"/>
            <a:ext cx="3147060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500" b="1" kern="0" spc="-12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CPT20</a:t>
            </a:r>
            <a:r>
              <a:rPr sz="2500" b="1" kern="0" spc="-11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Group</a:t>
            </a:r>
            <a:r>
              <a:rPr sz="2500" b="1" kern="0" spc="17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11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</a:t>
            </a:r>
            <a:r>
              <a:rPr sz="2500" b="1" kern="0" spc="-6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558998" y="1698481"/>
            <a:ext cx="5448935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Algorithms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Shortest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Path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Oriented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4984709" y="5020317"/>
            <a:ext cx="203834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10"/>
              </a:lnSpc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3651295" y="5205328"/>
            <a:ext cx="198120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2000" b="1" kern="0" spc="-110" dirty="0">
                <a:solidFill>
                  <a:srgbClr val="3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0147322" y="5565797"/>
            <a:ext cx="123825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45"/>
              </a:lnSpc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6362716" y="5211652"/>
            <a:ext cx="157480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1500" b="1" kern="0" spc="-6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50900" y="1762122"/>
          <a:ext cx="8191500" cy="1746250"/>
        </p:xfrm>
        <a:graphic>
          <a:graphicData uri="http://schemas.openxmlformats.org/drawingml/2006/table">
            <a:tbl>
              <a:tblPr/>
              <a:tblGrid>
                <a:gridCol w="981075"/>
                <a:gridCol w="1924050"/>
                <a:gridCol w="2463800"/>
                <a:gridCol w="1581150"/>
                <a:gridCol w="1241425"/>
              </a:tblGrid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8930" algn="l" rtl="0" eaLnBrk="0">
                        <a:lnSpc>
                          <a:spcPct val="71000"/>
                        </a:lnSpc>
                        <a:spcBef>
                          <a:spcPts val="0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Case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8005" algn="l" rtl="0" eaLnBrk="0">
                        <a:lnSpc>
                          <a:spcPct val="85000"/>
                        </a:lnSpc>
                      </a:pPr>
                      <a:r>
                        <a:rPr sz="1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Start→End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830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3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Required</a:t>
                      </a:r>
                      <a:r>
                        <a:rPr sz="1300" kern="0" spc="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3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Way</a:t>
                      </a:r>
                      <a:r>
                        <a:rPr sz="1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point(s)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Total</a:t>
                      </a:r>
                      <a:r>
                        <a:rPr sz="1300" kern="0" spc="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Cost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655" algn="l" rtl="0" eaLnBrk="0">
                        <a:lnSpc>
                          <a:spcPct val="70000"/>
                        </a:lnSpc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Nodes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958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20" dirty="0">
                          <a:solidFill>
                            <a:srgbClr val="2060A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L0001→L0001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38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2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None</a:t>
                      </a:r>
                      <a:r>
                        <a:rPr sz="1300" kern="0" spc="-2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</a:t>
                      </a:r>
                      <a:r>
                        <a:rPr sz="1300" kern="0" spc="-2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(self-to-self)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72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958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2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2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L0001→L0010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6800" algn="l" rtl="0" eaLnBrk="0">
                        <a:lnSpc>
                          <a:spcPct val="70000"/>
                        </a:lnSpc>
                      </a:pPr>
                      <a:r>
                        <a:rPr sz="1300" kern="0" spc="-2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None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2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27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72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9580" algn="l" rtl="0" eaLnBrk="0">
                        <a:lnSpc>
                          <a:spcPct val="85000"/>
                        </a:lnSpc>
                      </a:pPr>
                      <a:r>
                        <a:rPr sz="1300" b="1" kern="0" spc="-2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3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L0001→L0101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0" algn="l" rtl="0" eaLnBrk="0">
                        <a:lnSpc>
                          <a:spcPct val="85000"/>
                        </a:lnSpc>
                      </a:pPr>
                      <a:r>
                        <a:rPr sz="1300" kern="0" spc="-2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via</a:t>
                      </a:r>
                      <a:r>
                        <a:rPr sz="1300" kern="0" spc="9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L0105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2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39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34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15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958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2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4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L0001→L0201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via</a:t>
                      </a:r>
                      <a:r>
                        <a:rPr sz="1300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L0105</a:t>
                      </a:r>
                      <a:r>
                        <a:rPr sz="1300" kern="0" spc="-1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,then</a:t>
                      </a:r>
                      <a:r>
                        <a:rPr sz="1300" kern="0" spc="18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L0205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2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48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34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18</a:t>
                      </a:r>
                      <a:endParaRPr sz="13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1606529" y="505029"/>
            <a:ext cx="8157844" cy="43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3000" b="1" kern="0" spc="-12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</a:t>
            </a:r>
            <a:r>
              <a:rPr sz="3000" b="1" kern="0" spc="13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12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3000" b="1" kern="0" spc="14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12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Results:Four Shortest-Path Query C</a:t>
            </a:r>
            <a:r>
              <a:rPr sz="3000" b="1" kern="0" spc="-130" dirty="0">
                <a:solidFill>
                  <a:srgbClr val="2040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ases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847858" y="4504405"/>
            <a:ext cx="5992495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indent="-673100" algn="l" rtl="0" eaLnBrk="0">
              <a:lnSpc>
                <a:spcPct val="97000"/>
              </a:lnSpc>
            </a:pPr>
            <a:r>
              <a:rPr sz="1300" kern="0" spc="-10" dirty="0">
                <a:solidFill>
                  <a:srgbClr val="104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Case 4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:Dijkstra(L0001→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L0105)+Dijkstra(L0105→</a:t>
            </a:r>
            <a:r>
              <a:rPr sz="1300" kern="0" spc="-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L0205)+Dijkstra(L0205→</a:t>
            </a:r>
            <a:r>
              <a:rPr sz="1300" kern="0" spc="-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L0201)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cost       =22+18       +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8=48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847858" y="3976959"/>
            <a:ext cx="3844290" cy="469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indent="-673100" algn="l" rtl="0" eaLnBrk="0">
              <a:lnSpc>
                <a:spcPct val="132000"/>
              </a:lnSpc>
            </a:pPr>
            <a:r>
              <a:rPr sz="1100" kern="0" spc="0" dirty="0">
                <a:solidFill>
                  <a:srgbClr val="104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Case</a:t>
            </a:r>
            <a:r>
              <a:rPr sz="1100" kern="0" spc="40" dirty="0">
                <a:solidFill>
                  <a:srgbClr val="104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3:</a:t>
            </a:r>
            <a:r>
              <a:rPr sz="1100" kern="0" spc="190" dirty="0">
                <a:solidFill>
                  <a:srgbClr val="104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Dijkstra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(L000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1→</a:t>
            </a:r>
            <a:r>
              <a:rPr sz="11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L0105)+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Dijkstra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(L0105→</a:t>
            </a:r>
            <a:r>
              <a:rPr sz="11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L0101)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cost 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=22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+17     =39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3867143" y="1158530"/>
            <a:ext cx="3058160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b="1" kern="0" spc="-4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CPT204 Group</a:t>
            </a:r>
            <a:r>
              <a:rPr sz="2300" b="1" kern="0" spc="2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b="1" kern="0" spc="-4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863817" y="1500670"/>
            <a:ext cx="498348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300" kern="0" spc="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  Algorithms·Graph </a:t>
            </a:r>
            <a:r>
              <a:rPr sz="1300" kern="0" spc="-1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Shorte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Path</a:t>
            </a:r>
            <a:r>
              <a:rPr sz="13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kern="0" spc="-1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·Object-Oriented   Design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55682" y="3740150"/>
            <a:ext cx="552519" cy="546087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1847858" y="3752364"/>
            <a:ext cx="1547495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4000"/>
              </a:lnSpc>
            </a:pPr>
            <a:r>
              <a:rPr sz="1400" b="1" kern="0" spc="-5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Waypoint</a:t>
            </a:r>
            <a:r>
              <a:rPr sz="1400" b="1" kern="0" spc="8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5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Handling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0134584" y="5559403"/>
            <a:ext cx="124460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45"/>
              </a:lnSpc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9973" y="1479557"/>
            <a:ext cx="8915370" cy="344801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43038" y="543152"/>
            <a:ext cx="8409940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</a:pPr>
            <a:r>
              <a:rPr sz="3400" b="1" kern="0" spc="-10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 C:Object-Oriented Application</a:t>
            </a:r>
            <a:r>
              <a:rPr sz="3400" b="1" kern="0" spc="23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100" dirty="0">
                <a:solidFill>
                  <a:srgbClr val="103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139937" y="2762498"/>
            <a:ext cx="3135630" cy="56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26665" algn="l" rtl="0" eaLnBrk="0">
              <a:lnSpc>
                <a:spcPct val="79000"/>
              </a:lnSpc>
            </a:pPr>
            <a:r>
              <a:rPr sz="1000" kern="0" spc="-3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MergeS</a:t>
            </a:r>
            <a:r>
              <a:rPr sz="1000" b="1" kern="0" spc="-3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ort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320"/>
              </a:lnSpc>
            </a:pPr>
            <a:r>
              <a:rPr sz="1000" b="1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</a:t>
            </a:r>
            <a:r>
              <a:rPr sz="1000" b="1" kern="0" spc="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adjacency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addEdge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getNeighbours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155723" y="1637087"/>
            <a:ext cx="742569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</a:pPr>
            <a:r>
              <a:rPr sz="2000" b="1" kern="0" spc="-30" baseline="5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1300" b="1" kern="0" spc="2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</a:t>
            </a:r>
            <a:r>
              <a:rPr sz="1700" b="1" kern="0" spc="-30" baseline="9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CSVReader</a:t>
            </a:r>
            <a:r>
              <a:rPr sz="1100" b="1" kern="0" spc="-3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r>
              <a:rPr sz="1600" kern="0" spc="-30" baseline="1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(readLocations,readEdg</a:t>
            </a:r>
            <a:r>
              <a:rPr sz="1600" kern="0" spc="-40" baseline="1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es)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</a:t>
            </a:r>
            <a:r>
              <a:rPr sz="2500" b="1" kern="0" spc="-140" baseline="-10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</a:t>
            </a:r>
            <a:r>
              <a:rPr sz="1600" b="1" kern="0" spc="6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140" baseline="-10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2500" b="1" kern="0" spc="-140" baseline="-10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</a:t>
            </a:r>
            <a:r>
              <a:rPr sz="2500" b="1" kern="0" spc="-130" baseline="-10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nciple</a:t>
            </a:r>
            <a:r>
              <a:rPr sz="2500" b="1" kern="0" spc="-80" baseline="-10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25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6311859" y="3611820"/>
            <a:ext cx="3271520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43" rIns="0" bIns="0"/>
          <a:lstStyle/>
          <a:p>
            <a:pPr marL="12700" algn="l" rtl="0" eaLnBrk="0">
              <a:lnSpc>
                <a:spcPct val="140000"/>
              </a:lnSpc>
              <a:spcBef>
                <a:spcPts val="0"/>
              </a:spcBef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SortingAlgorithm[]array holds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BubbleSort,QuickSort,MergeSort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 loop calls the same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uniformly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6311859" y="2792659"/>
            <a:ext cx="3287395" cy="433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7000"/>
              </a:lnSpc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SortingAlgorith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 defines sort()and measureAverageTimeNs()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 a shared template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;subclasses implement sortArray()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139937" y="3550244"/>
            <a:ext cx="318643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84" rIns="0" bIns="0"/>
          <a:lstStyle/>
          <a:p>
            <a:pPr marL="1002665" indent="-989965" algn="l" rtl="0" eaLnBrk="0">
              <a:lnSpc>
                <a:spcPct val="103000"/>
              </a:lnSpc>
              <a:spcBef>
                <a:spcPts val="5"/>
              </a:spcBef>
            </a:pPr>
            <a:r>
              <a:rPr sz="1000" b="1" kern="0" spc="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DijkstraS</a:t>
            </a:r>
            <a:r>
              <a:rPr sz="1000" b="1" kern="0" spc="-1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olver   </a:t>
            </a:r>
            <a:r>
              <a:rPr sz="1000" kern="0" spc="-1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(shortestPath,shortestPathViaWaypoint,</a:t>
            </a:r>
            <a:r>
              <a:rPr sz="1000" kern="0" spc="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2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shortestPathViaTwoWay</a:t>
            </a:r>
            <a:r>
              <a:rPr sz="1000" kern="0" spc="-3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points)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759166" y="4059508"/>
            <a:ext cx="2093595" cy="468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1400" kern="0" spc="0" baseline="14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Location</a:t>
            </a:r>
            <a:r>
              <a:rPr sz="900" kern="0" spc="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implements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Comparable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190"/>
              </a:lnSpc>
            </a:pPr>
            <a:r>
              <a:rPr sz="900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Edge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139937" y="2030683"/>
            <a:ext cx="3136265" cy="236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660"/>
              </a:lnSpc>
            </a:pPr>
            <a:r>
              <a:rPr sz="1600" b="1" kern="0" spc="-10" baseline="24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SortingAlgorithm</a:t>
            </a:r>
            <a:r>
              <a:rPr sz="1000" b="1" kern="0" spc="-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600" kern="0" spc="-10" baseline="24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[abstract]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</a:t>
            </a:r>
            <a:r>
              <a:rPr sz="1500" b="1" kern="0" spc="-20" baseline="-9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Bubble</a:t>
            </a:r>
            <a:r>
              <a:rPr sz="1500" kern="0" spc="-20" baseline="-9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1500" b="1" kern="0" spc="-20" baseline="-900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ort</a:t>
            </a:r>
            <a:endParaRPr sz="1500" baseline="-9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6311859" y="4448451"/>
            <a:ext cx="314833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00"/>
              </a:lnSpc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 class has one clear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role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(I/O,sorting,graph,model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267199" y="1149190"/>
            <a:ext cx="254952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900" b="1" kern="0" spc="-2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CPT204 Gro</a:t>
            </a:r>
            <a:r>
              <a:rPr sz="1900" b="1" kern="0" spc="-3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</a:t>
            </a:r>
            <a:r>
              <a:rPr sz="1900" b="1" kern="0" spc="12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b="1" kern="0" spc="-3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</a:t>
            </a:r>
            <a:endParaRPr sz="1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6311859" y="2214844"/>
            <a:ext cx="254762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fields are private;accessed via getters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311859" y="4268138"/>
            <a:ext cx="1848485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Separation of Responsibilit</a:t>
            </a:r>
            <a:r>
              <a:rPr sz="11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y: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311859" y="3431983"/>
            <a:ext cx="997585" cy="163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Polymorphism: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311859" y="2024177"/>
            <a:ext cx="978535" cy="160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Encapsulation: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2139937" y="4075087"/>
            <a:ext cx="920750" cy="151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100" b="1" kern="0" spc="-5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Classes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6311859" y="2603677"/>
            <a:ext cx="833120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Abstractio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n: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4654514" y="2442921"/>
            <a:ext cx="586105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000" kern="0" spc="-1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QuickS</a:t>
            </a:r>
            <a:r>
              <a:rPr sz="1000" b="1" kern="0" spc="-1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ort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3759166" y="4692522"/>
            <a:ext cx="646430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900" b="1" kern="0" spc="10" dirty="0">
                <a:solidFill>
                  <a:srgbClr val="103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PathResult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0179069" y="5506254"/>
            <a:ext cx="164465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101822" y="675741"/>
            <a:ext cx="7066280" cy="429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4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Reflection and</a:t>
            </a:r>
            <a:r>
              <a:rPr sz="3400" b="1" kern="0" spc="21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Future</a:t>
            </a:r>
            <a:r>
              <a:rPr sz="3400" b="1" kern="0" spc="20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Develo</a:t>
            </a:r>
            <a:r>
              <a:rPr sz="3400" b="1" kern="0" spc="-8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pment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6076901" y="4275428"/>
            <a:ext cx="2139315" cy="1174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7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graphical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</a:t>
            </a: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interface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GUI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Export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inspection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route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reports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Support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larger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world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graphs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A*algo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rithm when location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coordinates are av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ailable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854228" y="2687956"/>
            <a:ext cx="3055620" cy="450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assisted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tools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planning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workflow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checking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5918174" y="2706958"/>
            <a:ext cx="2882265" cy="476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58115" algn="l" rtl="0" eaLnBrk="0">
              <a:lnSpc>
                <a:spcPct val="138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High-contrast display mod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for accessibility </a:t>
            </a:r>
            <a:r>
              <a:rPr sz="1100" kern="0" spc="-10" dirty="0">
                <a:solidFill>
                  <a:srgbClr val="1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1100" kern="0" spc="-10" dirty="0">
                <a:solidFill>
                  <a:srgbClr val="1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Multilingual output support fo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diverse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users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854228" y="2262452"/>
            <a:ext cx="2927985" cy="429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0000"/>
              </a:lnSpc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divided:sorting,graph</a:t>
            </a:r>
            <a:r>
              <a:rPr sz="11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algorithm,te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sting,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report,presen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tation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854228" y="4726268"/>
            <a:ext cx="2686050" cy="432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1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Improved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skills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debugging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 algorithm i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mplementation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6076901" y="2238663"/>
            <a:ext cx="2375535" cy="45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8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Future improve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ment:text-to-speech for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visually impaired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users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854228" y="3126069"/>
            <a:ext cx="2359660" cy="457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code logic verified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</a:t>
            </a: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derstood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independently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854228" y="4264291"/>
            <a:ext cx="2323465" cy="478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8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Connected classroom algor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ithms to a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realistic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urban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scenario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3848138" y="1299550"/>
            <a:ext cx="3178810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500" b="1" kern="0" spc="-10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CPT</a:t>
            </a:r>
            <a:r>
              <a:rPr sz="2500" b="1" kern="0" spc="-9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204 Grou</a:t>
            </a:r>
            <a:r>
              <a:rPr sz="2500" b="1" kern="0" spc="-10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2500" b="1" kern="0" spc="12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10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</a:t>
            </a:r>
            <a:r>
              <a:rPr sz="25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854228" y="1966347"/>
            <a:ext cx="2590800" cy="22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</a:pPr>
            <a:r>
              <a:rPr sz="16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1.Planning and Collaboration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6076901" y="3958398"/>
            <a:ext cx="2034540" cy="214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600" b="1" kern="0" spc="-5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4.Future Development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1854228" y="3972989"/>
            <a:ext cx="1777365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4000"/>
              </a:lnSpc>
            </a:pPr>
            <a:r>
              <a:rPr sz="1500" b="1" kern="0" spc="-3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3.Life-lon</a:t>
            </a:r>
            <a:r>
              <a:rPr sz="1500" b="1" kern="0" spc="-4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1500" b="1" kern="0" spc="10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-4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Learning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076901" y="1976423"/>
            <a:ext cx="1913890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5000"/>
              </a:lnSpc>
            </a:pPr>
            <a:r>
              <a:rPr sz="1600" b="1" kern="0" spc="-7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2.EDI</a:t>
            </a:r>
            <a:r>
              <a:rPr sz="1600" b="1" kern="0" spc="8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1" kern="0" spc="-7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1600" b="1" kern="0" spc="-7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onsideration</a:t>
            </a:r>
            <a:r>
              <a:rPr sz="1600" b="1" kern="0" spc="-80" dirty="0">
                <a:solidFill>
                  <a:srgbClr val="104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08145" y="3829064"/>
            <a:ext cx="463547" cy="46990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08145" y="1854211"/>
            <a:ext cx="463547" cy="46356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43558" y="3829064"/>
            <a:ext cx="463546" cy="463507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43558" y="1854210"/>
            <a:ext cx="444542" cy="444506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0147324" y="5572738"/>
            <a:ext cx="11747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10"/>
              </a:lnSpc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5437</Words>
  <Application>WPS 演示</Application>
  <PresentationFormat>宽屏</PresentationFormat>
  <Paragraphs>353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</vt:lpstr>
      <vt:lpstr>黑体</vt:lpstr>
      <vt:lpstr>Arial Unicode MS</vt:lpstr>
      <vt:lpstr>Calibri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王燕华</cp:lastModifiedBy>
  <cp:revision>7</cp:revision>
  <dcterms:created xsi:type="dcterms:W3CDTF">2026-05-14T08:53:00Z</dcterms:created>
  <dcterms:modified xsi:type="dcterms:W3CDTF">2026-05-14T09:42:13Z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4015531C19415D964E89056A7688BD80_42</vt:lpwstr>
  </property>
</Properties>
</file>